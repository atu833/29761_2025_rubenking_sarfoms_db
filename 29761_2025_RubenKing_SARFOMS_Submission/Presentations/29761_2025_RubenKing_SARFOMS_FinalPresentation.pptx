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6" r:id="rId12"/>
    <p:sldId id="264" r:id="rId13"/>
    <p:sldId id="265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 panose="020B0604020202020204"/>
              </a:rPr>
              <a:t>22 Automated Test Cases</a:t>
            </a:r>
            <a:endParaRPr sz="1800" b="0" i="0" u="none" strike="noStrike">
              <a:solidFill>
                <a:srgbClr val="000000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Test Outcomes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2C5F2D"/>
              </a:solidFill>
              <a:effectLst/>
            </c:spPr>
          </c:dPt>
          <c:dPt>
            <c:idx val="1"/>
            <c:bubble3D val="0"/>
            <c:spPr>
              <a:solidFill>
                <a:srgbClr val="97BC62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Passed</c:v>
                </c:pt>
                <c:pt idx="1">
                  <c:v>Skipped (day-dependent)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</c:v>
                </c:pt>
                <c:pt idx="1">
                  <c:v>1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06591f1e-1196-4d6a-8d83-758d4d9a062c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594360" cy="59436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548640"/>
            <a:ext cx="594360" cy="594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Agricultural Resource and Farm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Operations Management System (SARFOMS)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731520" y="3200400"/>
            <a:ext cx="10698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97BC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Capstone Presentation</a:t>
            </a:r>
            <a:endParaRPr lang="en-US" sz="1900" dirty="0"/>
          </a:p>
        </p:txBody>
      </p:sp>
      <p:sp>
        <p:nvSpPr>
          <p:cNvPr id="6" name="Shape 2"/>
          <p:cNvSpPr/>
          <p:nvPr/>
        </p:nvSpPr>
        <p:spPr>
          <a:xfrm>
            <a:off x="4709160" y="3886200"/>
            <a:ext cx="2743200" cy="0"/>
          </a:xfrm>
          <a:prstGeom prst="line">
            <a:avLst/>
          </a:prstGeom>
          <a:noFill/>
          <a:ln w="12700">
            <a:solidFill>
              <a:srgbClr val="97BC62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31520" y="4114800"/>
            <a:ext cx="106984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DPR400210 – Database Programming | Final Examination (Capstone Project)</a:t>
            </a:r>
            <a:endParaRPr lang="en-US" sz="14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Student: Ruben King  |  Student ID: 29761/2025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3327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064240" y="365760"/>
            <a:ext cx="640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/ 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6766560" cy="5029200"/>
          </a:xfrm>
          <a:prstGeom prst="roundRect">
            <a:avLst>
              <a:gd name="adj" fmla="val 1455"/>
            </a:avLst>
          </a:prstGeom>
          <a:solidFill>
            <a:srgbClr val="EFF5EC"/>
          </a:solidFill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508760"/>
            <a:ext cx="6126480" cy="4480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50" dirty="0">
                <a:solidFill>
                  <a:srgbClr val="1E2B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SARFOMS is a full Oracle database system connecting two real markets: farmers who need equipment they cannot afford to own, and equipment owners whose machines sit idle between jobs.</a:t>
            </a:r>
            <a:endParaRPr lang="en-US" sz="145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50" dirty="0">
                <a:solidFill>
                  <a:srgbClr val="1E2B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simultaneously monitors the crops that equipment services, using IoT-style sensor data (soil moisture, temperature, humidity).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E2B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across a normalized 13-table schema plus a full PL/SQL application layer: sequences, views, procedures, functions, triggers, packages, cursors, auditing, and an Oracle APEX front end.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589520" y="1188720"/>
            <a:ext cx="960120" cy="5029200"/>
          </a:xfrm>
          <a:prstGeom prst="roundRect">
            <a:avLst>
              <a:gd name="adj" fmla="val 7619"/>
            </a:avLst>
          </a:prstGeom>
          <a:solidFill>
            <a:srgbClr val="2C5F2D"/>
          </a:solidFill>
        </p:spPr>
      </p:sp>
      <p:sp>
        <p:nvSpPr>
          <p:cNvPr id="7" name="Text 5"/>
          <p:cNvSpPr/>
          <p:nvPr/>
        </p:nvSpPr>
        <p:spPr>
          <a:xfrm>
            <a:off x="7452360" y="2103120"/>
            <a:ext cx="12344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98080" y="2926080"/>
            <a:ext cx="114300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7BC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0" y="1188720"/>
            <a:ext cx="960120" cy="5029200"/>
          </a:xfrm>
          <a:prstGeom prst="roundRect">
            <a:avLst>
              <a:gd name="adj" fmla="val 7619"/>
            </a:avLst>
          </a:prstGeom>
          <a:solidFill>
            <a:srgbClr val="2C5F2D"/>
          </a:solidFill>
        </p:spPr>
      </p:sp>
      <p:sp>
        <p:nvSpPr>
          <p:cNvPr id="10" name="Text 8"/>
          <p:cNvSpPr/>
          <p:nvPr/>
        </p:nvSpPr>
        <p:spPr>
          <a:xfrm>
            <a:off x="8549640" y="2103120"/>
            <a:ext cx="12344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10+10+10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595360" y="2926080"/>
            <a:ext cx="114300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7BC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Views / Procs / Funcs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784080" y="1188720"/>
            <a:ext cx="960120" cy="5029200"/>
          </a:xfrm>
          <a:prstGeom prst="roundRect">
            <a:avLst>
              <a:gd name="adj" fmla="val 7619"/>
            </a:avLst>
          </a:prstGeom>
          <a:solidFill>
            <a:srgbClr val="2C5F2D"/>
          </a:solidFill>
        </p:spPr>
      </p:sp>
      <p:sp>
        <p:nvSpPr>
          <p:cNvPr id="13" name="Text 11"/>
          <p:cNvSpPr/>
          <p:nvPr/>
        </p:nvSpPr>
        <p:spPr>
          <a:xfrm>
            <a:off x="9646920" y="2103120"/>
            <a:ext cx="12344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92640" y="2926080"/>
            <a:ext cx="114300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7BC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Triggers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881360" y="1188720"/>
            <a:ext cx="960120" cy="5029200"/>
          </a:xfrm>
          <a:prstGeom prst="roundRect">
            <a:avLst>
              <a:gd name="adj" fmla="val 7619"/>
            </a:avLst>
          </a:prstGeom>
          <a:solidFill>
            <a:srgbClr val="2C5F2D"/>
          </a:solidFill>
        </p:spPr>
      </p:sp>
      <p:sp>
        <p:nvSpPr>
          <p:cNvPr id="16" name="Text 14"/>
          <p:cNvSpPr/>
          <p:nvPr/>
        </p:nvSpPr>
        <p:spPr>
          <a:xfrm>
            <a:off x="10744200" y="2103120"/>
            <a:ext cx="12344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789920" y="2926080"/>
            <a:ext cx="114300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7BC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Packages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064240" y="365760"/>
            <a:ext cx="640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7BC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/ 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474720" cy="4206240"/>
          </a:xfrm>
          <a:prstGeom prst="roundRect">
            <a:avLst>
              <a:gd name="adj" fmla="val 2632"/>
            </a:avLst>
          </a:prstGeom>
          <a:solidFill>
            <a:srgbClr val="3A7A3B"/>
          </a:solidFill>
        </p:spPr>
      </p:sp>
      <p:sp>
        <p:nvSpPr>
          <p:cNvPr id="5" name="Shape 3"/>
          <p:cNvSpPr/>
          <p:nvPr/>
        </p:nvSpPr>
        <p:spPr>
          <a:xfrm>
            <a:off x="2057400" y="1783080"/>
            <a:ext cx="640080" cy="64008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2848" y="19385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06040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Idle Capital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3108960"/>
            <a:ext cx="2834640" cy="228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5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Equipment sits unused most of the year on both sides of the market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1463040"/>
            <a:ext cx="3474720" cy="4206240"/>
          </a:xfrm>
          <a:prstGeom prst="roundRect">
            <a:avLst>
              <a:gd name="adj" fmla="val 2632"/>
            </a:avLst>
          </a:prstGeom>
          <a:solidFill>
            <a:srgbClr val="3A7A3B"/>
          </a:solidFill>
        </p:spPr>
      </p:sp>
      <p:sp>
        <p:nvSpPr>
          <p:cNvPr id="10" name="Shape 7"/>
          <p:cNvSpPr/>
          <p:nvPr/>
        </p:nvSpPr>
        <p:spPr>
          <a:xfrm>
            <a:off x="5760720" y="1783080"/>
            <a:ext cx="640080" cy="64008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168" y="193852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2606040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Matching System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63440" y="3108960"/>
            <a:ext cx="2834640" cy="228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5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formal way for farmers and equipment owners to find each other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46720" y="1463040"/>
            <a:ext cx="3474720" cy="4206240"/>
          </a:xfrm>
          <a:prstGeom prst="roundRect">
            <a:avLst>
              <a:gd name="adj" fmla="val 2632"/>
            </a:avLst>
          </a:prstGeom>
          <a:solidFill>
            <a:srgbClr val="3A7A3B"/>
          </a:solidFill>
        </p:spPr>
      </p:sp>
      <p:sp>
        <p:nvSpPr>
          <p:cNvPr id="15" name="Shape 11"/>
          <p:cNvSpPr/>
          <p:nvPr/>
        </p:nvSpPr>
        <p:spPr>
          <a:xfrm>
            <a:off x="9464040" y="1783080"/>
            <a:ext cx="640080" cy="64008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488" y="193852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0" y="2606040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Crop Visibility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66760" y="3108960"/>
            <a:ext cx="2834640" cy="228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5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Once equipment is rented, nobody tracks whether the crop is responding well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3327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064240" y="365760"/>
            <a:ext cx="640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/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strictly phased build — each phase depends only on what came before it, never forward: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2011680"/>
            <a:ext cx="1245870" cy="1188720"/>
          </a:xfrm>
          <a:prstGeom prst="roundRect">
            <a:avLst>
              <a:gd name="adj" fmla="val 4615"/>
            </a:avLst>
          </a:prstGeom>
          <a:solidFill>
            <a:srgbClr val="2C5F2D"/>
          </a:solidFill>
        </p:spPr>
      </p:sp>
      <p:sp>
        <p:nvSpPr>
          <p:cNvPr id="6" name="Text 4"/>
          <p:cNvSpPr/>
          <p:nvPr/>
        </p:nvSpPr>
        <p:spPr>
          <a:xfrm>
            <a:off x="594360" y="2011680"/>
            <a:ext cx="124587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124587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40230" y="2606040"/>
            <a:ext cx="9144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1670" y="2011680"/>
            <a:ext cx="1245870" cy="1188720"/>
          </a:xfrm>
          <a:prstGeom prst="roundRect">
            <a:avLst>
              <a:gd name="adj" fmla="val 4615"/>
            </a:avLst>
          </a:prstGeom>
          <a:solidFill>
            <a:srgbClr val="97BC62"/>
          </a:solidFill>
        </p:spPr>
      </p:sp>
      <p:sp>
        <p:nvSpPr>
          <p:cNvPr id="10" name="Text 8"/>
          <p:cNvSpPr/>
          <p:nvPr/>
        </p:nvSpPr>
        <p:spPr>
          <a:xfrm>
            <a:off x="1931670" y="2011680"/>
            <a:ext cx="124587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B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ERD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E2B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Normalization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931670" y="1691640"/>
            <a:ext cx="124587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77540" y="2606040"/>
            <a:ext cx="9144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68980" y="2011680"/>
            <a:ext cx="1245870" cy="1188720"/>
          </a:xfrm>
          <a:prstGeom prst="roundRect">
            <a:avLst>
              <a:gd name="adj" fmla="val 4615"/>
            </a:avLst>
          </a:prstGeom>
          <a:solidFill>
            <a:srgbClr val="2C5F2D"/>
          </a:solidFill>
        </p:spPr>
      </p:sp>
      <p:sp>
        <p:nvSpPr>
          <p:cNvPr id="14" name="Text 12"/>
          <p:cNvSpPr/>
          <p:nvPr/>
        </p:nvSpPr>
        <p:spPr>
          <a:xfrm>
            <a:off x="3268980" y="2011680"/>
            <a:ext cx="124587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Tables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Sample Data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68980" y="1691640"/>
            <a:ext cx="124587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14850" y="2606040"/>
            <a:ext cx="9144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06290" y="2011680"/>
            <a:ext cx="1245870" cy="1188720"/>
          </a:xfrm>
          <a:prstGeom prst="roundRect">
            <a:avLst>
              <a:gd name="adj" fmla="val 4615"/>
            </a:avLst>
          </a:prstGeom>
          <a:solidFill>
            <a:srgbClr val="97BC62"/>
          </a:solidFill>
        </p:spPr>
      </p:sp>
      <p:sp>
        <p:nvSpPr>
          <p:cNvPr id="18" name="Text 16"/>
          <p:cNvSpPr/>
          <p:nvPr/>
        </p:nvSpPr>
        <p:spPr>
          <a:xfrm>
            <a:off x="4606290" y="2011680"/>
            <a:ext cx="124587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B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Sequences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E2B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06290" y="1691640"/>
            <a:ext cx="124587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52160" y="2606040"/>
            <a:ext cx="9144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0" y="2011680"/>
            <a:ext cx="1245870" cy="1188720"/>
          </a:xfrm>
          <a:prstGeom prst="roundRect">
            <a:avLst>
              <a:gd name="adj" fmla="val 4615"/>
            </a:avLst>
          </a:prstGeom>
          <a:solidFill>
            <a:srgbClr val="2C5F2D"/>
          </a:solidFill>
        </p:spPr>
      </p:sp>
      <p:sp>
        <p:nvSpPr>
          <p:cNvPr id="22" name="Text 20"/>
          <p:cNvSpPr/>
          <p:nvPr/>
        </p:nvSpPr>
        <p:spPr>
          <a:xfrm>
            <a:off x="5943600" y="2011680"/>
            <a:ext cx="124587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Procedures,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Functions,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Packages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943600" y="1691640"/>
            <a:ext cx="124587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189470" y="2606040"/>
            <a:ext cx="9144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80910" y="2011680"/>
            <a:ext cx="1245870" cy="1188720"/>
          </a:xfrm>
          <a:prstGeom prst="roundRect">
            <a:avLst>
              <a:gd name="adj" fmla="val 4615"/>
            </a:avLst>
          </a:prstGeom>
          <a:solidFill>
            <a:srgbClr val="97BC62"/>
          </a:solidFill>
        </p:spPr>
      </p:sp>
      <p:sp>
        <p:nvSpPr>
          <p:cNvPr id="26" name="Text 24"/>
          <p:cNvSpPr/>
          <p:nvPr/>
        </p:nvSpPr>
        <p:spPr>
          <a:xfrm>
            <a:off x="7280910" y="2011680"/>
            <a:ext cx="124587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B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Triggers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E2B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Auditing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280910" y="1691640"/>
            <a:ext cx="124587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526780" y="2606040"/>
            <a:ext cx="9144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18220" y="2011680"/>
            <a:ext cx="1245870" cy="1188720"/>
          </a:xfrm>
          <a:prstGeom prst="roundRect">
            <a:avLst>
              <a:gd name="adj" fmla="val 4615"/>
            </a:avLst>
          </a:prstGeom>
          <a:solidFill>
            <a:srgbClr val="2C5F2D"/>
          </a:solidFill>
        </p:spPr>
      </p:sp>
      <p:sp>
        <p:nvSpPr>
          <p:cNvPr id="30" name="Text 28"/>
          <p:cNvSpPr/>
          <p:nvPr/>
        </p:nvSpPr>
        <p:spPr>
          <a:xfrm>
            <a:off x="8618220" y="2011680"/>
            <a:ext cx="124587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Advanced SQL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Reports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618220" y="1691640"/>
            <a:ext cx="124587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864090" y="2606040"/>
            <a:ext cx="9144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55530" y="2011680"/>
            <a:ext cx="1245870" cy="1188720"/>
          </a:xfrm>
          <a:prstGeom prst="roundRect">
            <a:avLst>
              <a:gd name="adj" fmla="val 4615"/>
            </a:avLst>
          </a:prstGeom>
          <a:solidFill>
            <a:srgbClr val="97BC62"/>
          </a:solidFill>
        </p:spPr>
      </p:sp>
      <p:sp>
        <p:nvSpPr>
          <p:cNvPr id="34" name="Text 32"/>
          <p:cNvSpPr/>
          <p:nvPr/>
        </p:nvSpPr>
        <p:spPr>
          <a:xfrm>
            <a:off x="9955530" y="2011680"/>
            <a:ext cx="124587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B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APEX, Testing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E2B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Final Report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955530" y="1691640"/>
            <a:ext cx="124587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3749040"/>
            <a:ext cx="11064240" cy="2468880"/>
          </a:xfrm>
          <a:prstGeom prst="roundRect">
            <a:avLst>
              <a:gd name="adj" fmla="val 2963"/>
            </a:avLst>
          </a:prstGeom>
          <a:solidFill>
            <a:srgbClr val="EFF5EC"/>
          </a:solidFill>
        </p:spPr>
      </p:sp>
      <p:sp>
        <p:nvSpPr>
          <p:cNvPr id="37" name="Text 35"/>
          <p:cNvSpPr/>
          <p:nvPr/>
        </p:nvSpPr>
        <p:spPr>
          <a:xfrm>
            <a:off x="822960" y="3931920"/>
            <a:ext cx="10515600" cy="2194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B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Tooling: Oracle Database + SQL Developer for all schema/PL-SQL work; Oracle APEX for the application layer; Git/GitHub for version tracking.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B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Verification discipline: every phase was cross-checked against the schema created in Phase III before being written, rather than assumed — including a full static audit pass at the end that caught zero logic bugs but flagged process gaps.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B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a requirement referenced entities outside the approved schema, it was explicitly mapped to the closest real equivalent and documented — never silently invented.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3327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Design — 13 Tables, 3NF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064240" y="365760"/>
            <a:ext cx="640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/ 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583180" cy="4846320"/>
          </a:xfrm>
          <a:prstGeom prst="roundRect">
            <a:avLst>
              <a:gd name="adj" fmla="val 2832"/>
            </a:avLst>
          </a:prstGeom>
          <a:solidFill>
            <a:srgbClr val="2C5F2D"/>
          </a:solidFill>
        </p:spPr>
      </p:sp>
      <p:sp>
        <p:nvSpPr>
          <p:cNvPr id="5" name="Text 3"/>
          <p:cNvSpPr/>
          <p:nvPr/>
        </p:nvSpPr>
        <p:spPr>
          <a:xfrm>
            <a:off x="685800" y="1417320"/>
            <a:ext cx="23088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People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2217420" cy="3931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FARMER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EQUIPMENT_OWNER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TECHNICIAN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14700" y="1234440"/>
            <a:ext cx="2583180" cy="4846320"/>
          </a:xfrm>
          <a:prstGeom prst="roundRect">
            <a:avLst>
              <a:gd name="adj" fmla="val 2832"/>
            </a:avLst>
          </a:prstGeom>
          <a:solidFill>
            <a:srgbClr val="3A7A3B"/>
          </a:solidFill>
        </p:spPr>
      </p:sp>
      <p:sp>
        <p:nvSpPr>
          <p:cNvPr id="8" name="Text 6"/>
          <p:cNvSpPr/>
          <p:nvPr/>
        </p:nvSpPr>
        <p:spPr>
          <a:xfrm>
            <a:off x="3451860" y="1417320"/>
            <a:ext cx="23088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Assets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97580" y="1965960"/>
            <a:ext cx="2217420" cy="3931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EQUIPMENT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EQUIPMENT_CATEGORY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FARM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80760" y="1234440"/>
            <a:ext cx="2583180" cy="4846320"/>
          </a:xfrm>
          <a:prstGeom prst="roundRect">
            <a:avLst>
              <a:gd name="adj" fmla="val 2832"/>
            </a:avLst>
          </a:prstGeom>
          <a:solidFill>
            <a:srgbClr val="97BC62"/>
          </a:solidFill>
        </p:spPr>
      </p:sp>
      <p:sp>
        <p:nvSpPr>
          <p:cNvPr id="11" name="Text 9"/>
          <p:cNvSpPr/>
          <p:nvPr/>
        </p:nvSpPr>
        <p:spPr>
          <a:xfrm>
            <a:off x="6217920" y="1417320"/>
            <a:ext cx="23088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Transactions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63640" y="1965960"/>
            <a:ext cx="2217420" cy="3931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BOOKING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PAYMENT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MAINTENANCE_RECORD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846820" y="1234440"/>
            <a:ext cx="2583180" cy="4846320"/>
          </a:xfrm>
          <a:prstGeom prst="roundRect">
            <a:avLst>
              <a:gd name="adj" fmla="val 2832"/>
            </a:avLst>
          </a:prstGeom>
          <a:solidFill>
            <a:srgbClr val="6B8F5A"/>
          </a:solidFill>
        </p:spPr>
      </p:sp>
      <p:sp>
        <p:nvSpPr>
          <p:cNvPr id="14" name="Text 12"/>
          <p:cNvSpPr/>
          <p:nvPr/>
        </p:nvSpPr>
        <p:spPr>
          <a:xfrm>
            <a:off x="8983980" y="1417320"/>
            <a:ext cx="23088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/ Monitoring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029700" y="1965960"/>
            <a:ext cx="2217420" cy="3931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SENSOR_READING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PUBLIC_HOLIDAY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AUDIT_LOG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6217920"/>
            <a:ext cx="108813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FK relationship enforces referential integrity; the schema is normalized to 3NF with one deliberate, documented denormalization: AUDIT_LOG stores table_name/record_id generically rather than a strict FK, since one audit table must reference many parent tables.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3327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Implementation — Core PL/SQL Layer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064240" y="365760"/>
            <a:ext cx="640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/ 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640080" cy="640080"/>
          </a:xfrm>
          <a:prstGeom prst="ellipse">
            <a:avLst/>
          </a:prstGeom>
          <a:solidFill>
            <a:srgbClr val="2C5F2D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43560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261872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Views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63040" y="1609344"/>
            <a:ext cx="9418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B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Operational + management reporting, reused directly by packages and APEX report pages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640080" cy="640080"/>
          </a:xfrm>
          <a:prstGeom prst="ellipse">
            <a:avLst/>
          </a:prstGeom>
          <a:solidFill>
            <a:srgbClr val="2C5F2D"/>
          </a:solidFill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48716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313432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Procedures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463040" y="2660904"/>
            <a:ext cx="9418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B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Including conflict-checked booking creation and full maintenance lifecycle control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3383280"/>
            <a:ext cx="640080" cy="640080"/>
          </a:xfrm>
          <a:prstGeom prst="ellipse">
            <a:avLst/>
          </a:prstGeom>
          <a:solidFill>
            <a:srgbClr val="2C5F2D"/>
          </a:solidFill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53872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3364992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Functions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463040" y="3712464"/>
            <a:ext cx="9418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B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Callable directly inside SELECT statements — harvest countdowns, revenue rollups, utilization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" y="4434840"/>
            <a:ext cx="640080" cy="640080"/>
          </a:xfrm>
          <a:prstGeom prst="ellipse">
            <a:avLst/>
          </a:prstGeom>
          <a:solidFill>
            <a:srgbClr val="2C5F2D"/>
          </a:solidFill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459028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4416552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Packages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463040" y="4764024"/>
            <a:ext cx="9418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B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PKG_CROP_MANAGEMENT, PKG_FARM_OPERATIONS, PKG_REPORTS — grouped by business domain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55321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FF5EC"/>
          </a:solidFill>
        </p:spPr>
      </p:sp>
      <p:sp>
        <p:nvSpPr>
          <p:cNvPr id="21" name="Text 15"/>
          <p:cNvSpPr/>
          <p:nvPr/>
        </p:nvSpPr>
        <p:spPr>
          <a:xfrm>
            <a:off x="777240" y="5623560"/>
            <a:ext cx="106070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E2B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 principle: nothing is duplicated between layers without reason — e.g. PKG_REPORTS.sp_display_operational_stats reuses VW_FARM_DASHBOARD_SUMMARY%ROWTYPE rather than re-listing 9 variables by hand.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Implementation — Business Rules, Auditing &amp; APEX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064240" y="365760"/>
            <a:ext cx="640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7BC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/ 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3A7A3B"/>
          </a:solidFill>
        </p:spPr>
      </p:sp>
      <p:sp>
        <p:nvSpPr>
          <p:cNvPr id="5" name="Text 3"/>
          <p:cNvSpPr/>
          <p:nvPr/>
        </p:nvSpPr>
        <p:spPr>
          <a:xfrm>
            <a:off x="914400" y="1481328"/>
            <a:ext cx="30175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Triggers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023360" y="1481328"/>
            <a:ext cx="7315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Including the mandatory rule: BOOKING changes are blocked on weekdays and public holidays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5603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3A7A3B"/>
          </a:solidFill>
        </p:spPr>
      </p:sp>
      <p:sp>
        <p:nvSpPr>
          <p:cNvPr id="8" name="Text 6"/>
          <p:cNvSpPr/>
          <p:nvPr/>
        </p:nvSpPr>
        <p:spPr>
          <a:xfrm>
            <a:off x="914400" y="2670048"/>
            <a:ext cx="30175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5-Table Audit Trail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023360" y="2670048"/>
            <a:ext cx="7315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BOOKING, PAYMENT, EQUIPMENT, MAINTENANCE_RECORD, FARMER — deliberately excluding national_id from logs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3A7A3B"/>
          </a:solidFill>
        </p:spPr>
      </p:sp>
      <p:sp>
        <p:nvSpPr>
          <p:cNvPr id="11" name="Text 9"/>
          <p:cNvSpPr/>
          <p:nvPr/>
        </p:nvSpPr>
        <p:spPr>
          <a:xfrm>
            <a:off x="914400" y="3858768"/>
            <a:ext cx="30175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 Automated Tests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023360" y="3858768"/>
            <a:ext cx="7315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 / FAIL / SKIP suite, adaptive to the actual calendar date it's run 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9377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3A7A3B"/>
          </a:solidFill>
        </p:spPr>
      </p:sp>
      <p:sp>
        <p:nvSpPr>
          <p:cNvPr id="14" name="Text 12"/>
          <p:cNvSpPr/>
          <p:nvPr/>
        </p:nvSpPr>
        <p:spPr>
          <a:xfrm>
            <a:off x="914400" y="5047488"/>
            <a:ext cx="30175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Oracle APEX Design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023360" y="5047488"/>
            <a:ext cx="7315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roles, 10 forms, 6 reports, full page-by-page documentation ready to build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3327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— Testing &amp; Validation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064240" y="365760"/>
            <a:ext cx="640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/ 10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280160"/>
          <a:ext cx="493776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280160"/>
            <a:ext cx="5486400" cy="3931920"/>
          </a:xfrm>
          <a:prstGeom prst="roundRect">
            <a:avLst>
              <a:gd name="adj" fmla="val 1860"/>
            </a:avLst>
          </a:prstGeom>
          <a:solidFill>
            <a:srgbClr val="EFF5EC"/>
          </a:solidFill>
        </p:spPr>
      </p:sp>
      <p:sp>
        <p:nvSpPr>
          <p:cNvPr id="6" name="Text 3"/>
          <p:cNvSpPr/>
          <p:nvPr/>
        </p:nvSpPr>
        <p:spPr>
          <a:xfrm>
            <a:off x="6217920" y="1508760"/>
            <a:ext cx="4937760" cy="3566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B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schema, constraint, trigger, function, procedure, package, and cursor tests passed.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B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test (equipment status auto-sync) is correctly SKIPPED rather than failed on weekdays, since the mandatory business rule blocks the very update needed to observe it — by design, not a defect.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B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static code audit across all 13 phases found zero logic bugs — only process gaps (this presentation closes two of them).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40080" y="5394960"/>
            <a:ext cx="10789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29761_2025_RubenKing_SARFOMS_Testing.sql in SQL Developer with SERVEROUTPUT ON to reproduce this live.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883285" y="0"/>
            <a:ext cx="9813925" cy="5994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Innovation Component_Oracle APEX Interface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0" y="180975"/>
            <a:ext cx="12179300" cy="64960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030" y="148590"/>
            <a:ext cx="10789920" cy="5829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 &amp; Future Enhancements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064240" y="365760"/>
            <a:ext cx="640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7BC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 /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1055" y="1280160"/>
            <a:ext cx="5212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SARFOMS Delivers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5212080" cy="4389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5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genuinely normalized, constraint-enforced schema — not just tables that happen to hold data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5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PL/SQL layer cross-referencing the ones below it, documented explicitly rather than duplicated silently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5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mandatory institutional business rule enforced at the trigger level, impossible to bypass from any client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5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designed, documented, and testable path to a live Oracle APEX application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0" y="1234440"/>
            <a:ext cx="5303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It Goes Next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33135" y="1645920"/>
            <a:ext cx="6158865" cy="203517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5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 the designed Oracle APEX application for real, live use in the workspace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5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Replace manual service-reminder procedure calls with real email/SMS notifications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5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 real IoT sensor hardware directly into SENSOR_READING via a REST endpoint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5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simple forecasting (linear regression) over revenue and sensor history for the dashboard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1887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377440"/>
            <a:ext cx="106984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31520" y="3246120"/>
            <a:ext cx="10698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97BC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709160" y="4023360"/>
            <a:ext cx="2743200" cy="0"/>
          </a:xfrm>
          <a:prstGeom prst="line">
            <a:avLst/>
          </a:prstGeom>
          <a:noFill/>
          <a:ln w="12700">
            <a:solidFill>
              <a:srgbClr val="97BC6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4206240"/>
            <a:ext cx="106984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Agricultural Resource and Farm Operations Management System (SARFOMS)</a:t>
            </a:r>
            <a:endParaRPr lang="en-US" sz="14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Ruben King  |  29761/2025  |  DPR400210</a:t>
            </a:r>
            <a:endParaRPr lang="en-US" sz="1400" dirty="0"/>
          </a:p>
        </p:txBody>
      </p:sp>
      <p:sp>
        <p:nvSpPr>
          <p:cNvPr id="8" name="Text 0"/>
          <p:cNvSpPr/>
          <p:nvPr/>
        </p:nvSpPr>
        <p:spPr>
          <a:xfrm>
            <a:off x="113030" y="148590"/>
            <a:ext cx="10789920" cy="5829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 &amp; Future Enhancements</a:t>
            </a:r>
            <a:endParaRPr lang="en-US" sz="2600" dirty="0"/>
          </a:p>
        </p:txBody>
      </p:sp>
      <p:sp>
        <p:nvSpPr>
          <p:cNvPr id="9" name="Text 1"/>
          <p:cNvSpPr/>
          <p:nvPr/>
        </p:nvSpPr>
        <p:spPr>
          <a:xfrm>
            <a:off x="11064240" y="365760"/>
            <a:ext cx="640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7BC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 / 10</a:t>
            </a:r>
            <a:endParaRPr lang="en-US" sz="1100" dirty="0"/>
          </a:p>
        </p:txBody>
      </p:sp>
      <p:sp>
        <p:nvSpPr>
          <p:cNvPr id="10" name="Text 2"/>
          <p:cNvSpPr/>
          <p:nvPr/>
        </p:nvSpPr>
        <p:spPr>
          <a:xfrm>
            <a:off x="821055" y="1123315"/>
            <a:ext cx="5212080" cy="5226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SARFOMS Delivers</a:t>
            </a:r>
            <a:endParaRPr lang="en-US" sz="1500" dirty="0"/>
          </a:p>
        </p:txBody>
      </p:sp>
      <p:sp>
        <p:nvSpPr>
          <p:cNvPr id="11" name="Text 3"/>
          <p:cNvSpPr/>
          <p:nvPr/>
        </p:nvSpPr>
        <p:spPr>
          <a:xfrm>
            <a:off x="640080" y="1714500"/>
            <a:ext cx="4110355" cy="43205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5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genuinely normalized, constraint-enforced schema — not just tables that happen to hold data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5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PL/SQL layer cross-referencing the ones below it, documented explicitly rather than duplicated silently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5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mandatory institutional business rule enforced at the trigger level, impossible to bypass from any client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5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designed, documented, and testable path to a live Oracle APEX application</a:t>
            </a:r>
            <a:endParaRPr lang="en-US" sz="1250" dirty="0"/>
          </a:p>
        </p:txBody>
      </p:sp>
      <p:sp>
        <p:nvSpPr>
          <p:cNvPr id="12" name="Text 4"/>
          <p:cNvSpPr/>
          <p:nvPr/>
        </p:nvSpPr>
        <p:spPr>
          <a:xfrm>
            <a:off x="7411720" y="1234440"/>
            <a:ext cx="4292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It Goes Next</a:t>
            </a:r>
            <a:endParaRPr lang="en-US" sz="1500" dirty="0"/>
          </a:p>
        </p:txBody>
      </p:sp>
      <p:sp>
        <p:nvSpPr>
          <p:cNvPr id="13" name="Text 5"/>
          <p:cNvSpPr/>
          <p:nvPr/>
        </p:nvSpPr>
        <p:spPr>
          <a:xfrm>
            <a:off x="7211695" y="1645920"/>
            <a:ext cx="4980305" cy="203517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5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 the designed Oracle APEX application for real, live use in the workspace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5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Replace manual service-reminder procedure calls with real email/SMS notifications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5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 real IoT sensor hardware directly into SENSOR_READING via a REST endpoint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5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simple forecasting (linear regression) over revenue and sensor history for the dashboard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5776</Words>
  <Application>WPS Presentation</Application>
  <PresentationFormat>On-screen Show (16:9)</PresentationFormat>
  <Paragraphs>227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SimSun</vt:lpstr>
      <vt:lpstr>Wingdings</vt:lpstr>
      <vt:lpstr>Calibri</vt:lpstr>
      <vt:lpstr>Calibri</vt:lpstr>
      <vt:lpstr>Calibri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SARFOMS Final Capstone Presentation</dc:title>
  <dc:creator>Ruben King</dc:creator>
  <dc:subject>PptxGenJS Presentation</dc:subject>
  <cp:lastModifiedBy>Ruben King</cp:lastModifiedBy>
  <cp:revision>2</cp:revision>
  <dcterms:created xsi:type="dcterms:W3CDTF">2026-07-08T21:50:00Z</dcterms:created>
  <dcterms:modified xsi:type="dcterms:W3CDTF">2026-07-10T12:40:57Z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F4D17AF95D834D8B8E9E9F35032BE6F3_12</vt:lpwstr>
  </property>
</Properties>
</file>